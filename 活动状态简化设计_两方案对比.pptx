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916473dff5444e" /><Relationship Type="http://schemas.openxmlformats.org/officeDocument/2006/relationships/extended-properties" Target="/docProps/app.xml" Id="R0eec98052d054142" /><Relationship Type="http://schemas.openxmlformats.org/officeDocument/2006/relationships/officeDocument" Target="/ppt/presentation.xml" Id="Ra4cade1892c4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265f54de0d4593"/>
  </p:sldMasterIdLst>
  <p:notesMasterIdLst>
    <p:notesMasterId xmlns:r="http://schemas.openxmlformats.org/officeDocument/2006/relationships" r:id="Re221216ba4754078"/>
  </p:notesMasterIdLst>
  <p:sldIdLst>
    <p:sldId xmlns:r="http://schemas.openxmlformats.org/officeDocument/2006/relationships" id="256" r:id="R6ed6e0a238bf4056"/>
    <p:sldId xmlns:r="http://schemas.openxmlformats.org/officeDocument/2006/relationships" id="257" r:id="Raf387ebe488f4e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f2967846b74a38" /><Relationship Type="http://schemas.openxmlformats.org/officeDocument/2006/relationships/slideMaster" Target="/ppt/slideMasters/slideMaster1.xml" Id="Ref265f54de0d4593" /><Relationship Type="http://schemas.openxmlformats.org/officeDocument/2006/relationships/notesMaster" Target="/ppt/notesMasters/notesMaster1.xml" Id="Re221216ba4754078" /><Relationship Type="http://schemas.openxmlformats.org/officeDocument/2006/relationships/presProps" Target="/ppt/presProps.xml" Id="Rcb99a29b8ca14a1d" /><Relationship Type="http://schemas.openxmlformats.org/officeDocument/2006/relationships/tableStyles" Target="/ppt/tableStyles.xml" Id="Rf5fc5401db3e4b69" /><Relationship Type="http://schemas.openxmlformats.org/officeDocument/2006/relationships/slide" Target="/ppt/slides/slide1.xml" Id="R6ed6e0a238bf4056" /><Relationship Type="http://schemas.openxmlformats.org/officeDocument/2006/relationships/slide" Target="/ppt/slides/slide2.xml" Id="Raf387ebe488f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5c2147be0249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9bd6db0906490c" /><Relationship Type="http://schemas.openxmlformats.org/officeDocument/2006/relationships/notesMaster" Target="/ppt/notesMasters/notesMaster1.xml" Id="Rb3e0e2e17d6d49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73f53f4d4a400b" /><Relationship Type="http://schemas.openxmlformats.org/officeDocument/2006/relationships/notesMaster" Target="/ppt/notesMasters/notesMaster1.xml" Id="R3f5beee25ab24a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本页用于说明管理对象的变化：从活动、状态两类主数据，收敛为以活动为主、目标状态自动生成。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D:\Solver_demo_project\app\db\models.py（ActivityStateBinding、StateNode、OpRulePrecond、OpRuleEffect）</a:t>
            </a:r>
          </a:p>
          <a:p xmlns:a="http://schemas.openxmlformats.org/drawingml/2006/main">
            <a:r>
              <a:t>- D:\Solver_demo_project\app\services\network_editor.py（STATE_TO_ACTIVITY / ACTIVITY_TO_STATE 网络投影）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把替换关系放在“边”上；feature_key 把替换关系放在“状态特征”上。两者都在补回同一种缺失语义。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D:\Solver_demo_project\app\db\models.py（OpRulePrecond / OpRuleEffect 的 feature_key 与值）</a:t>
            </a:r>
          </a:p>
          <a:p xmlns:a="http://schemas.openxmlformats.org/drawingml/2006/main">
            <a:r>
              <a:t>- D:\Solver_demo_project\app\core\solver\rule_evaluator.py（同 feature_key 的 SET 效果覆盖当前状态）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3103e1ea844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0520b550b64d7a" /><Relationship Type="http://schemas.openxmlformats.org/officeDocument/2006/relationships/slideLayout" Target="/ppt/slideLayouts/slideLayout1.xml" Id="Rdecd3ed325a943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d3ed325a943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c2a5b870b4252" /><Relationship Type="http://schemas.openxmlformats.org/officeDocument/2006/relationships/notesSlide" Target="/ppt/notesSlides/notesSlide1.xml" Id="R1b4b619b21304d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6b85f0d19481f" /><Relationship Type="http://schemas.openxmlformats.org/officeDocument/2006/relationships/notesSlide" Target="/ppt/notesSlides/notesSlide2.xml" Id="R10b3d7db611e48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ection-1">
            <a:extLst xmlns:a="http://schemas.openxmlformats.org/drawingml/2006/main">
              <a:ext uri="{FF2B5EF4-FFF2-40B4-BE49-F238E27FC236}">
                <a16:creationId xmlns:a16="http://schemas.microsoft.com/office/drawing/2014/main" id="{DB3D0719-08A5-4F0F-9289-94AC98D3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rPr>
              <a:t>ACTIVITY × STATE  /  DESIGN SIMPLIFICATION</a:t>
            </a:r>
          </a:p>
        </p:txBody>
      </p:sp>
      <p:sp>
        <p:nvSpPr>
          <p:cNvPr id="2" name="top-accent-1">
            <a:extLst xmlns:a="http://schemas.openxmlformats.org/drawingml/2006/main">
              <a:ext uri="{FF2B5EF4-FFF2-40B4-BE49-F238E27FC236}">
                <a16:creationId xmlns:a16="http://schemas.microsoft.com/office/drawing/2014/main" id="{F15CA8AF-D008-4AFB-880B-9ABF3364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ule-1">
            <a:extLst xmlns:a="http://schemas.openxmlformats.org/drawingml/2006/main">
              <a:ext uri="{FF2B5EF4-FFF2-40B4-BE49-F238E27FC236}">
                <a16:creationId xmlns:a16="http://schemas.microsoft.com/office/drawing/2014/main" id="{60D7C44D-AAC3-4CEB-87C8-C8E70491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62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1">
            <a:extLst xmlns:a="http://schemas.openxmlformats.org/drawingml/2006/main">
              <a:ext uri="{FF2B5EF4-FFF2-40B4-BE49-F238E27FC236}">
                <a16:creationId xmlns:a16="http://schemas.microsoft.com/office/drawing/2014/main" id="{4F504941-3C5E-42C5-B2EA-EB80336C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5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状态由活动自动生成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5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管理对象从“两类”收敛为“一类”</a:t>
            </a:r>
          </a:p>
        </p:txBody>
      </p:sp>
      <p:sp>
        <p:nvSpPr>
          <p:cNvPr id="5" name="s1-left-card">
            <a:extLst xmlns:a="http://schemas.openxmlformats.org/drawingml/2006/main">
              <a:ext uri="{FF2B5EF4-FFF2-40B4-BE49-F238E27FC236}">
                <a16:creationId xmlns:a16="http://schemas.microsoft.com/office/drawing/2014/main" id="{CA6201A9-4806-4D37-8CBB-26321F8D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53530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6" name="s1-right-card">
            <a:extLst xmlns:a="http://schemas.openxmlformats.org/drawingml/2006/main">
              <a:ext uri="{FF2B5EF4-FFF2-40B4-BE49-F238E27FC236}">
                <a16:creationId xmlns:a16="http://schemas.microsoft.com/office/drawing/2014/main" id="{57E3D82C-18FC-4DDD-84A6-2EB58469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35305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FE6FA"/>
            </a:solidFill>
            <a:prstDash val="solid"/>
          </a:ln>
        </p:spPr>
      </p:sp>
      <p:sp>
        <p:nvSpPr>
          <p:cNvPr id="7" name="s1-left-kicker">
            <a:extLst xmlns:a="http://schemas.openxmlformats.org/drawingml/2006/main">
              <a:ext uri="{FF2B5EF4-FFF2-40B4-BE49-F238E27FC236}">
                <a16:creationId xmlns:a16="http://schemas.microsoft.com/office/drawing/2014/main" id="{D86EEB3B-4139-4DEE-BF30-D37C9E2C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rPr>
              <a:t>原本设计</a:t>
            </a:r>
          </a:p>
        </p:txBody>
      </p:sp>
      <p:sp>
        <p:nvSpPr>
          <p:cNvPr id="8" name="s1-left-head">
            <a:extLst xmlns:a="http://schemas.openxmlformats.org/drawingml/2006/main">
              <a:ext uri="{FF2B5EF4-FFF2-40B4-BE49-F238E27FC236}">
                <a16:creationId xmlns:a16="http://schemas.microsoft.com/office/drawing/2014/main" id="{93F54986-90DC-432B-9784-BCD71E3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活动与状态分别维护</a:t>
            </a:r>
          </a:p>
        </p:txBody>
      </p:sp>
      <p:sp>
        <p:nvSpPr>
          <p:cNvPr id="9" name="s1-right-kicker">
            <a:extLst xmlns:a="http://schemas.openxmlformats.org/drawingml/2006/main">
              <a:ext uri="{FF2B5EF4-FFF2-40B4-BE49-F238E27FC236}">
                <a16:creationId xmlns:a16="http://schemas.microsoft.com/office/drawing/2014/main" id="{A36A5146-4299-4AFD-A209-C9892158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简化设计</a:t>
            </a:r>
          </a:p>
        </p:txBody>
      </p:sp>
      <p:sp>
        <p:nvSpPr>
          <p:cNvPr id="10" name="s1-right-head">
            <a:extLst xmlns:a="http://schemas.openxmlformats.org/drawingml/2006/main">
              <a:ext uri="{FF2B5EF4-FFF2-40B4-BE49-F238E27FC236}">
                <a16:creationId xmlns:a16="http://schemas.microsoft.com/office/drawing/2014/main" id="{51B8A21F-01BF-496C-8138-4ACE5037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只维护活动与前置关联</a:t>
            </a:r>
          </a:p>
        </p:txBody>
      </p:sp>
      <p:sp>
        <p:nvSpPr>
          <p:cNvPr id="11" name="s1-original-pre">
            <a:extLst xmlns:a="http://schemas.openxmlformats.org/drawingml/2006/main">
              <a:ext uri="{FF2B5EF4-FFF2-40B4-BE49-F238E27FC236}">
                <a16:creationId xmlns:a16="http://schemas.microsoft.com/office/drawing/2014/main" id="{F4F5ABE7-019E-4786-BE84-AF716FBB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13144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前置状态</a:t>
            </a:r>
          </a:p>
        </p:txBody>
      </p:sp>
      <p:sp>
        <p:nvSpPr>
          <p:cNvPr id="12" name="s1-original-act">
            <a:extLst xmlns:a="http://schemas.openxmlformats.org/drawingml/2006/main">
              <a:ext uri="{FF2B5EF4-FFF2-40B4-BE49-F238E27FC236}">
                <a16:creationId xmlns:a16="http://schemas.microsoft.com/office/drawing/2014/main" id="{B0C69DB8-CDD5-41D4-B2D0-14938D8A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33725"/>
            <a:ext cx="1047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20242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</a:t>
            </a:r>
          </a:p>
        </p:txBody>
      </p:sp>
      <p:sp>
        <p:nvSpPr>
          <p:cNvPr id="13" name="s1-original-goal">
            <a:extLst xmlns:a="http://schemas.openxmlformats.org/drawingml/2006/main">
              <a:ext uri="{FF2B5EF4-FFF2-40B4-BE49-F238E27FC236}">
                <a16:creationId xmlns:a16="http://schemas.microsoft.com/office/drawing/2014/main" id="{43ACCE47-1862-43CE-A464-FF9DAAF6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33725"/>
            <a:ext cx="15049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目标状态</a:t>
            </a:r>
          </a:p>
        </p:txBody>
      </p: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133600" y="34290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590925" y="34290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16" name="s1-input-label">
            <a:extLst xmlns:a="http://schemas.openxmlformats.org/drawingml/2006/main">
              <a:ext uri="{FF2B5EF4-FFF2-40B4-BE49-F238E27FC236}">
                <a16:creationId xmlns:a16="http://schemas.microsoft.com/office/drawing/2014/main" id="{4ACAFC35-14A0-4691-B2F3-013F9A40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813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7" name="s1-output-label">
            <a:extLst xmlns:a="http://schemas.openxmlformats.org/drawingml/2006/main">
              <a:ext uri="{FF2B5EF4-FFF2-40B4-BE49-F238E27FC236}">
                <a16:creationId xmlns:a16="http://schemas.microsoft.com/office/drawing/2014/main" id="{C100FD6B-B26E-4C6B-B954-A9E17FC9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81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18" name="s1-original-bullets-dot-0">
            <a:extLst xmlns:a="http://schemas.openxmlformats.org/drawingml/2006/main">
              <a:ext uri="{FF2B5EF4-FFF2-40B4-BE49-F238E27FC236}">
                <a16:creationId xmlns:a16="http://schemas.microsoft.com/office/drawing/2014/main" id="{B223ED36-AE43-42D5-9BEC-0D186DD0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1-original-bullets-0">
            <a:extLst xmlns:a="http://schemas.openxmlformats.org/drawingml/2006/main">
              <a:ext uri="{FF2B5EF4-FFF2-40B4-BE49-F238E27FC236}">
                <a16:creationId xmlns:a16="http://schemas.microsoft.com/office/drawing/2014/main" id="{903E2EA1-738F-44AD-96EA-48AADEF8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独立维护状态定义</a:t>
            </a:r>
          </a:p>
        </p:txBody>
      </p:sp>
      <p:sp>
        <p:nvSpPr>
          <p:cNvPr id="20" name="s1-original-bullets-dot-1">
            <a:extLst xmlns:a="http://schemas.openxmlformats.org/drawingml/2006/main">
              <a:ext uri="{FF2B5EF4-FFF2-40B4-BE49-F238E27FC236}">
                <a16:creationId xmlns:a16="http://schemas.microsoft.com/office/drawing/2014/main" id="{31DA5C9B-8841-4BEA-AC3E-5123ACE2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-original-bullets-1">
            <a:extLst xmlns:a="http://schemas.openxmlformats.org/drawingml/2006/main">
              <a:ext uri="{FF2B5EF4-FFF2-40B4-BE49-F238E27FC236}">
                <a16:creationId xmlns:a16="http://schemas.microsoft.com/office/drawing/2014/main" id="{9CA152DC-B9D3-47F1-9B46-CA9F2DE2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建立 input 前置绑定</a:t>
            </a:r>
          </a:p>
        </p:txBody>
      </p:sp>
      <p:sp>
        <p:nvSpPr>
          <p:cNvPr id="22" name="s1-original-bullets-dot-2">
            <a:extLst xmlns:a="http://schemas.openxmlformats.org/drawingml/2006/main">
              <a:ext uri="{FF2B5EF4-FFF2-40B4-BE49-F238E27FC236}">
                <a16:creationId xmlns:a16="http://schemas.microsoft.com/office/drawing/2014/main" id="{734F162B-D167-4FDC-8A16-C72A16F4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1-original-bullets-2">
            <a:extLst xmlns:a="http://schemas.openxmlformats.org/drawingml/2006/main">
              <a:ext uri="{FF2B5EF4-FFF2-40B4-BE49-F238E27FC236}">
                <a16:creationId xmlns:a16="http://schemas.microsoft.com/office/drawing/2014/main" id="{E4560AC0-1085-453C-A0D4-C610863F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建立 output 输出绑定</a:t>
            </a:r>
          </a:p>
        </p:txBody>
      </p:sp>
      <p:sp>
        <p:nvSpPr>
          <p:cNvPr id="24" name="s1-original-bullets-dot-3">
            <a:extLst xmlns:a="http://schemas.openxmlformats.org/drawingml/2006/main">
              <a:ext uri="{FF2B5EF4-FFF2-40B4-BE49-F238E27FC236}">
                <a16:creationId xmlns:a16="http://schemas.microsoft.com/office/drawing/2014/main" id="{4D582DBD-8CBF-4A65-9AEF-29BE8C0A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1-original-bullets-3">
            <a:extLst xmlns:a="http://schemas.openxmlformats.org/drawingml/2006/main">
              <a:ext uri="{FF2B5EF4-FFF2-40B4-BE49-F238E27FC236}">
                <a16:creationId xmlns:a16="http://schemas.microsoft.com/office/drawing/2014/main" id="{3C681B39-984B-4D1F-BD92-62E421D1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规则保存 precondition / effect</a:t>
            </a:r>
          </a:p>
        </p:txBody>
      </p:sp>
      <p:sp>
        <p:nvSpPr>
          <p:cNvPr id="26" name="s1-simple-pre">
            <a:extLst xmlns:a="http://schemas.openxmlformats.org/drawingml/2006/main">
              <a:ext uri="{FF2B5EF4-FFF2-40B4-BE49-F238E27FC236}">
                <a16:creationId xmlns:a16="http://schemas.microsoft.com/office/drawing/2014/main" id="{DF1514F7-7F24-468E-9134-72807DA0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33725"/>
            <a:ext cx="13144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前置状态</a:t>
            </a:r>
          </a:p>
        </p:txBody>
      </p:sp>
      <p:sp>
        <p:nvSpPr>
          <p:cNvPr id="27" name="s1-simple-act">
            <a:extLst xmlns:a="http://schemas.openxmlformats.org/drawingml/2006/main">
              <a:ext uri="{FF2B5EF4-FFF2-40B4-BE49-F238E27FC236}">
                <a16:creationId xmlns:a16="http://schemas.microsoft.com/office/drawing/2014/main" id="{6D1835B3-710B-4CB7-93B0-1892E68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33725"/>
            <a:ext cx="1047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</a:t>
            </a:r>
          </a:p>
        </p:txBody>
      </p:sp>
      <p:sp>
        <p:nvSpPr>
          <p:cNvPr id="28" name="s1-simple-goal">
            <a:extLst xmlns:a="http://schemas.openxmlformats.org/drawingml/2006/main">
              <a:ext uri="{FF2B5EF4-FFF2-40B4-BE49-F238E27FC236}">
                <a16:creationId xmlns:a16="http://schemas.microsoft.com/office/drawing/2014/main" id="{A935A3EA-FC48-48DA-8774-5877DA57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57525"/>
            <a:ext cx="15049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目标状态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自动生成</a:t>
            </a:r>
          </a:p>
        </p:txBody>
      </p:sp>
      <p:cxnSp>
        <p:nvCxnSpPr>
          <p:cNvPr id="72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829550" y="34290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286875" y="34290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sp>
        <p:nvSpPr>
          <p:cNvPr id="31" name="s1-user-label">
            <a:extLst xmlns:a="http://schemas.openxmlformats.org/drawingml/2006/main">
              <a:ext uri="{FF2B5EF4-FFF2-40B4-BE49-F238E27FC236}">
                <a16:creationId xmlns:a16="http://schemas.microsoft.com/office/drawing/2014/main" id="{ADCB8A55-E4BD-4506-9F98-545BE089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52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用户维护</a:t>
            </a:r>
          </a:p>
        </p:txBody>
      </p:sp>
      <p:sp>
        <p:nvSpPr>
          <p:cNvPr id="32" name="s1-auto-label">
            <a:extLst xmlns:a="http://schemas.openxmlformats.org/drawingml/2006/main">
              <a:ext uri="{FF2B5EF4-FFF2-40B4-BE49-F238E27FC236}">
                <a16:creationId xmlns:a16="http://schemas.microsoft.com/office/drawing/2014/main" id="{068A8768-8FF3-477A-B7FD-131C5F39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52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系统生成</a:t>
            </a:r>
          </a:p>
        </p:txBody>
      </p:sp>
      <p:sp>
        <p:nvSpPr>
          <p:cNvPr id="33" name="s1-simple-bullets-dot-0">
            <a:extLst xmlns:a="http://schemas.openxmlformats.org/drawingml/2006/main">
              <a:ext uri="{FF2B5EF4-FFF2-40B4-BE49-F238E27FC236}">
                <a16:creationId xmlns:a16="http://schemas.microsoft.com/office/drawing/2014/main" id="{0ADE6FB5-FB06-47E6-B3DF-00DF672E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814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1-simple-bullets-0">
            <a:extLst xmlns:a="http://schemas.openxmlformats.org/drawingml/2006/main">
              <a:ext uri="{FF2B5EF4-FFF2-40B4-BE49-F238E27FC236}">
                <a16:creationId xmlns:a16="http://schemas.microsoft.com/office/drawing/2014/main" id="{3DFC98DE-980D-4462-830E-46A1FE0D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76700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创建活动时生成目标状态</a:t>
            </a:r>
          </a:p>
        </p:txBody>
      </p:sp>
      <p:sp>
        <p:nvSpPr>
          <p:cNvPr id="35" name="s1-simple-bullets-dot-1">
            <a:extLst xmlns:a="http://schemas.openxmlformats.org/drawingml/2006/main">
              <a:ext uri="{FF2B5EF4-FFF2-40B4-BE49-F238E27FC236}">
                <a16:creationId xmlns:a16="http://schemas.microsoft.com/office/drawing/2014/main" id="{6455E32A-A2AA-44A5-9DDB-0E8F65D5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815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1-simple-bullets-1">
            <a:extLst xmlns:a="http://schemas.openxmlformats.org/drawingml/2006/main">
              <a:ext uri="{FF2B5EF4-FFF2-40B4-BE49-F238E27FC236}">
                <a16:creationId xmlns:a16="http://schemas.microsoft.com/office/drawing/2014/main" id="{FA27AB17-244C-4402-83F1-96FB70AE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76750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输出边由系统固定绑定</a:t>
            </a:r>
          </a:p>
        </p:txBody>
      </p:sp>
      <p:sp>
        <p:nvSpPr>
          <p:cNvPr id="37" name="s1-simple-bullets-dot-2">
            <a:extLst xmlns:a="http://schemas.openxmlformats.org/drawingml/2006/main">
              <a:ext uri="{FF2B5EF4-FFF2-40B4-BE49-F238E27FC236}">
                <a16:creationId xmlns:a16="http://schemas.microsoft.com/office/drawing/2014/main" id="{E6AB55C6-E3EC-41D6-85D5-8BD6A014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81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1-simple-bullets-2">
            <a:extLst xmlns:a="http://schemas.openxmlformats.org/drawingml/2006/main">
              <a:ext uri="{FF2B5EF4-FFF2-40B4-BE49-F238E27FC236}">
                <a16:creationId xmlns:a16="http://schemas.microsoft.com/office/drawing/2014/main" id="{889B86FC-3FC5-469F-83B4-5929E9C0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76800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用户只选择前置状态</a:t>
            </a:r>
          </a:p>
        </p:txBody>
      </p:sp>
      <p:sp>
        <p:nvSpPr>
          <p:cNvPr id="39" name="s1-simple-bullets-dot-3">
            <a:extLst xmlns:a="http://schemas.openxmlformats.org/drawingml/2006/main">
              <a:ext uri="{FF2B5EF4-FFF2-40B4-BE49-F238E27FC236}">
                <a16:creationId xmlns:a16="http://schemas.microsoft.com/office/drawing/2014/main" id="{1E90819F-0689-4BE1-B3AD-B3EB15CD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81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1-simple-bullets-3">
            <a:extLst xmlns:a="http://schemas.openxmlformats.org/drawingml/2006/main">
              <a:ext uri="{FF2B5EF4-FFF2-40B4-BE49-F238E27FC236}">
                <a16:creationId xmlns:a16="http://schemas.microsoft.com/office/drawing/2014/main" id="{3902D5DE-17E0-481B-B8D9-E3F268E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76850"/>
            <a:ext cx="459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求解目标由目标活动映射</a:t>
            </a:r>
          </a:p>
        </p:txBody>
      </p:sp>
      <p:sp>
        <p:nvSpPr>
          <p:cNvPr id="41" name="s1-conclusion">
            <a:extLst xmlns:a="http://schemas.openxmlformats.org/drawingml/2006/main">
              <a:ext uri="{FF2B5EF4-FFF2-40B4-BE49-F238E27FC236}">
                <a16:creationId xmlns:a16="http://schemas.microsoft.com/office/drawing/2014/main" id="{9153AE2A-86DB-4EFE-BBA4-26933F12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20242B"/>
            </a:solidFill>
            <a:prstDash val="solid"/>
          </a:ln>
        </p:spPr>
      </p:sp>
      <p:sp>
        <p:nvSpPr>
          <p:cNvPr id="42" name="s1-conclusion-accent">
            <a:extLst xmlns:a="http://schemas.openxmlformats.org/drawingml/2006/main">
              <a:ext uri="{FF2B5EF4-FFF2-40B4-BE49-F238E27FC236}">
                <a16:creationId xmlns:a16="http://schemas.microsoft.com/office/drawing/2014/main" id="{B12A234B-2E7F-43B0-8957-6E72D403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762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1-conclusion-text">
            <a:extLst xmlns:a="http://schemas.openxmlformats.org/drawingml/2006/main">
              <a:ext uri="{FF2B5EF4-FFF2-40B4-BE49-F238E27FC236}">
                <a16:creationId xmlns:a16="http://schemas.microsoft.com/office/drawing/2014/main" id="{1D19F52C-62ED-4873-A99C-C796A811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674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简化减少了状态主数据与输出绑定维护，但也丢失了“目标状态替换哪个前置状态”的信息。</a:t>
            </a:r>
          </a:p>
        </p:txBody>
      </p:sp>
    </p:spTree>
    <p:extLst>
      <p:ext uri="{BB962C8B-B14F-4D97-AF65-F5344CB8AC3E}">
        <p14:creationId xmlns:p14="http://schemas.microsoft.com/office/powerpoint/2010/main" val="1178582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-2">
            <a:extLst xmlns:a="http://schemas.openxmlformats.org/drawingml/2006/main">
              <a:ext uri="{FF2B5EF4-FFF2-40B4-BE49-F238E27FC236}">
                <a16:creationId xmlns:a16="http://schemas.microsoft.com/office/drawing/2014/main" id="{83516522-ED50-4225-9432-069DF3CD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rPr>
              <a:t>STATE MIGRATION  /  TWO NEUTRAL OPTIONS</a:t>
            </a:r>
          </a:p>
        </p:txBody>
      </p:sp>
      <p:sp>
        <p:nvSpPr>
          <p:cNvPr id="2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AB60201D-6174-4A4C-9EBF-8397E682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"/>
            <a:ext cx="685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2FDEED17-45A4-45F2-9023-4AF9BF70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62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64575A93-1655-48DF-A872-756E2B80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简化后必须补回“谁替换谁”的语义</a:t>
            </a:r>
          </a:p>
        </p:txBody>
      </p:sp>
      <p:sp>
        <p:nvSpPr>
          <p:cNvPr id="5" name="s2-example-band">
            <a:extLst xmlns:a="http://schemas.openxmlformats.org/drawingml/2006/main">
              <a:ext uri="{FF2B5EF4-FFF2-40B4-BE49-F238E27FC236}">
                <a16:creationId xmlns:a16="http://schemas.microsoft.com/office/drawing/2014/main" id="{6D1A4CC7-C9B4-44E1-94C2-8BEFE2E3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110490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1E7"/>
            </a:solidFill>
            <a:prstDash val="solid"/>
          </a:ln>
        </p:spPr>
      </p:sp>
      <p:sp>
        <p:nvSpPr>
          <p:cNvPr id="6" name="s2-example-kicker">
            <a:extLst xmlns:a="http://schemas.openxmlformats.org/drawingml/2006/main">
              <a:ext uri="{FF2B5EF4-FFF2-40B4-BE49-F238E27FC236}">
                <a16:creationId xmlns:a16="http://schemas.microsoft.com/office/drawing/2014/main" id="{F08BE690-88D4-45CE-81F7-82B80276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rPr>
              <a:t>模块 X 示例</a:t>
            </a:r>
          </a:p>
        </p:txBody>
      </p:sp>
      <p:sp>
        <p:nvSpPr>
          <p:cNvPr id="7" name="s2-x-not">
            <a:extLst xmlns:a="http://schemas.openxmlformats.org/drawingml/2006/main">
              <a:ext uri="{FF2B5EF4-FFF2-40B4-BE49-F238E27FC236}">
                <a16:creationId xmlns:a16="http://schemas.microsoft.com/office/drawing/2014/main" id="{2E07FD5D-6DA6-421F-8220-3CDED1EB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13906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X 未安装</a:t>
            </a:r>
          </a:p>
        </p:txBody>
      </p:sp>
      <p:sp>
        <p:nvSpPr>
          <p:cNvPr id="8" name="s2-power-off">
            <a:extLst xmlns:a="http://schemas.openxmlformats.org/drawingml/2006/main">
              <a:ext uri="{FF2B5EF4-FFF2-40B4-BE49-F238E27FC236}">
                <a16:creationId xmlns:a16="http://schemas.microsoft.com/office/drawing/2014/main" id="{9C6B2B6B-9AFE-47A3-8F32-248ABD2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13906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设备下电</a:t>
            </a:r>
          </a:p>
        </p:txBody>
      </p:sp>
      <p:sp>
        <p:nvSpPr>
          <p:cNvPr id="9" name="s2-plus">
            <a:extLst xmlns:a="http://schemas.openxmlformats.org/drawingml/2006/main">
              <a:ext uri="{FF2B5EF4-FFF2-40B4-BE49-F238E27FC236}">
                <a16:creationId xmlns:a16="http://schemas.microsoft.com/office/drawing/2014/main" id="{E85A460B-CF7D-419F-940D-9B0FF43E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3362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0" name="s2-install-x">
            <a:extLst xmlns:a="http://schemas.openxmlformats.org/drawingml/2006/main">
              <a:ext uri="{FF2B5EF4-FFF2-40B4-BE49-F238E27FC236}">
                <a16:creationId xmlns:a16="http://schemas.microsoft.com/office/drawing/2014/main" id="{569C1357-F3B4-4817-BA23-49C88747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13525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9525">
            <a:solidFill>
              <a:srgbClr val="20242B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安装 X</a:t>
            </a:r>
          </a:p>
        </p:txBody>
      </p:sp>
      <p:sp>
        <p:nvSpPr>
          <p:cNvPr id="11" name="s2-x-done">
            <a:extLst xmlns:a="http://schemas.openxmlformats.org/drawingml/2006/main">
              <a:ext uri="{FF2B5EF4-FFF2-40B4-BE49-F238E27FC236}">
                <a16:creationId xmlns:a16="http://schemas.microsoft.com/office/drawing/2014/main" id="{A8CE9A88-EDC2-471C-B8A0-96F8D0B9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14478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X 已安装</a:t>
            </a:r>
          </a:p>
        </p:txBody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86000" y="2266950"/>
            <a:ext cx="137160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286000" y="2619375"/>
            <a:ext cx="137160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010150" y="2619375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sp>
        <p:nvSpPr>
          <p:cNvPr id="15" name="s2-correct-result">
            <a:extLst xmlns:a="http://schemas.openxmlformats.org/drawingml/2006/main">
              <a:ext uri="{FF2B5EF4-FFF2-40B4-BE49-F238E27FC236}">
                <a16:creationId xmlns:a16="http://schemas.microsoft.com/office/drawing/2014/main" id="{C600E1A5-4522-40B2-B0D9-4E36337B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2952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6" name="s2-correct-title">
            <a:extLst xmlns:a="http://schemas.openxmlformats.org/drawingml/2006/main">
              <a:ext uri="{FF2B5EF4-FFF2-40B4-BE49-F238E27FC236}">
                <a16:creationId xmlns:a16="http://schemas.microsoft.com/office/drawing/2014/main" id="{17877F55-05D0-4524-82B3-ECC1D756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正确迁移</a:t>
            </a:r>
          </a:p>
        </p:txBody>
      </p:sp>
      <p:sp>
        <p:nvSpPr>
          <p:cNvPr id="17" name="s2-correct-copy">
            <a:extLst xmlns:a="http://schemas.openxmlformats.org/drawingml/2006/main">
              <a:ext uri="{FF2B5EF4-FFF2-40B4-BE49-F238E27FC236}">
                <a16:creationId xmlns:a16="http://schemas.microsoft.com/office/drawing/2014/main" id="{9DD218F7-11B5-465D-BC07-50169865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替换“X 未安装”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保留“设备下电”</a:t>
            </a:r>
          </a:p>
        </p:txBody>
      </p:sp>
      <p:sp>
        <p:nvSpPr>
          <p:cNvPr id="18" name="s2-transition-card">
            <a:extLst xmlns:a="http://schemas.openxmlformats.org/drawingml/2006/main">
              <a:ext uri="{FF2B5EF4-FFF2-40B4-BE49-F238E27FC236}">
                <a16:creationId xmlns:a16="http://schemas.microsoft.com/office/drawing/2014/main" id="{B297E905-916A-4D51-93C8-481950AC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535305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9" name="s2-feature-card">
            <a:extLst xmlns:a="http://schemas.openxmlformats.org/drawingml/2006/main">
              <a:ext uri="{FF2B5EF4-FFF2-40B4-BE49-F238E27FC236}">
                <a16:creationId xmlns:a16="http://schemas.microsoft.com/office/drawing/2014/main" id="{16CD9606-1070-4626-B7EB-92465925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535305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0" name="s2-transition-stripe">
            <a:extLst xmlns:a="http://schemas.openxmlformats.org/drawingml/2006/main">
              <a:ext uri="{FF2B5EF4-FFF2-40B4-BE49-F238E27FC236}">
                <a16:creationId xmlns:a16="http://schemas.microsoft.com/office/drawing/2014/main" id="{6791601A-7B4C-4546-9568-C0B13A70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76200" cy="2495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5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transition-kicker">
            <a:extLst xmlns:a="http://schemas.openxmlformats.org/drawingml/2006/main">
              <a:ext uri="{FF2B5EF4-FFF2-40B4-BE49-F238E27FC236}">
                <a16:creationId xmlns:a16="http://schemas.microsoft.com/office/drawing/2014/main" id="{70189CCC-1282-4E0C-AEC5-2515D3A4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A8494"/>
                </a:solidFill>
                <a:latin typeface="Microsoft YaHei"/>
                <a:ea typeface="Microsoft YaHei"/>
                <a:cs typeface="Microsoft YaHei"/>
              </a:rPr>
              <a:t>策略 A</a:t>
            </a:r>
          </a:p>
        </p:txBody>
      </p:sp>
      <p:sp>
        <p:nvSpPr>
          <p:cNvPr id="22" name="s2-transition-title">
            <a:extLst xmlns:a="http://schemas.openxmlformats.org/drawingml/2006/main">
              <a:ext uri="{FF2B5EF4-FFF2-40B4-BE49-F238E27FC236}">
                <a16:creationId xmlns:a16="http://schemas.microsoft.com/office/drawing/2014/main" id="{9DF0D1A8-410D-45E8-A7D6-E05BB0ED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transition</a:t>
            </a:r>
          </a:p>
        </p:txBody>
      </p:sp>
      <p:sp>
        <p:nvSpPr>
          <p:cNvPr id="23" name="s2-transition-headline">
            <a:extLst xmlns:a="http://schemas.openxmlformats.org/drawingml/2006/main">
              <a:ext uri="{FF2B5EF4-FFF2-40B4-BE49-F238E27FC236}">
                <a16:creationId xmlns:a16="http://schemas.microsoft.com/office/drawing/2014/main" id="{372EFFEA-F2FF-412C-8DEA-2B6CADFD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在前置关系上显式标记被替换状态</a:t>
            </a:r>
          </a:p>
        </p:txBody>
      </p:sp>
      <p:sp>
        <p:nvSpPr>
          <p:cNvPr id="24" name="s2-transition-bullets-dot-0">
            <a:extLst xmlns:a="http://schemas.openxmlformats.org/drawingml/2006/main">
              <a:ext uri="{FF2B5EF4-FFF2-40B4-BE49-F238E27FC236}">
                <a16:creationId xmlns:a16="http://schemas.microsoft.com/office/drawing/2014/main" id="{BBF4DD65-060A-4D89-BF6E-EDBD7483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5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2-transition-bullets-0">
            <a:extLst xmlns:a="http://schemas.openxmlformats.org/drawingml/2006/main">
              <a:ext uri="{FF2B5EF4-FFF2-40B4-BE49-F238E27FC236}">
                <a16:creationId xmlns:a16="http://schemas.microsoft.com/office/drawing/2014/main" id="{CD2A810A-3939-4ACE-BD42-C8C81B26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440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判断直接、实现简单</a:t>
            </a:r>
          </a:p>
        </p:txBody>
      </p:sp>
      <p:sp>
        <p:nvSpPr>
          <p:cNvPr id="26" name="s2-transition-bullets-dot-1">
            <a:extLst xmlns:a="http://schemas.openxmlformats.org/drawingml/2006/main">
              <a:ext uri="{FF2B5EF4-FFF2-40B4-BE49-F238E27FC236}">
                <a16:creationId xmlns:a16="http://schemas.microsoft.com/office/drawing/2014/main" id="{28771DA3-9D0D-4D58-AED9-957D57D0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5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2-transition-bullets-1">
            <a:extLst xmlns:a="http://schemas.openxmlformats.org/drawingml/2006/main">
              <a:ext uri="{FF2B5EF4-FFF2-40B4-BE49-F238E27FC236}">
                <a16:creationId xmlns:a16="http://schemas.microsoft.com/office/drawing/2014/main" id="{9B8093AA-D0E7-4CE7-8D3A-E4D2F276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3025"/>
            <a:ext cx="440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替换关系需要逐条维护</a:t>
            </a:r>
          </a:p>
        </p:txBody>
      </p:sp>
      <p:sp>
        <p:nvSpPr>
          <p:cNvPr id="28" name="s2-transition-bullets-dot-2">
            <a:extLst xmlns:a="http://schemas.openxmlformats.org/drawingml/2006/main">
              <a:ext uri="{FF2B5EF4-FFF2-40B4-BE49-F238E27FC236}">
                <a16:creationId xmlns:a16="http://schemas.microsoft.com/office/drawing/2014/main" id="{1D4BD798-C022-4C94-8767-82FFC5B5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5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2-transition-bullets-2">
            <a:extLst xmlns:a="http://schemas.openxmlformats.org/drawingml/2006/main">
              <a:ext uri="{FF2B5EF4-FFF2-40B4-BE49-F238E27FC236}">
                <a16:creationId xmlns:a16="http://schemas.microsoft.com/office/drawing/2014/main" id="{6639DC14-1C15-4354-9869-5915996E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86400"/>
            <a:ext cx="440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依赖关系标记必须准确</a:t>
            </a:r>
          </a:p>
        </p:txBody>
      </p:sp>
      <p:sp>
        <p:nvSpPr>
          <p:cNvPr id="30" name="s2-feature-stripe">
            <a:extLst xmlns:a="http://schemas.openxmlformats.org/drawingml/2006/main">
              <a:ext uri="{FF2B5EF4-FFF2-40B4-BE49-F238E27FC236}">
                <a16:creationId xmlns:a16="http://schemas.microsoft.com/office/drawing/2014/main" id="{E6FE0098-89DE-4159-B52F-816EFA17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76200" cy="2495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2-feature-kicker">
            <a:extLst xmlns:a="http://schemas.openxmlformats.org/drawingml/2006/main">
              <a:ext uri="{FF2B5EF4-FFF2-40B4-BE49-F238E27FC236}">
                <a16:creationId xmlns:a16="http://schemas.microsoft.com/office/drawing/2014/main" id="{C0BC3A71-C6F7-476D-B4C3-A5BD0460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策略 B</a:t>
            </a:r>
          </a:p>
        </p:txBody>
      </p:sp>
      <p:sp>
        <p:nvSpPr>
          <p:cNvPr id="32" name="s2-feature-title">
            <a:extLst xmlns:a="http://schemas.openxmlformats.org/drawingml/2006/main">
              <a:ext uri="{FF2B5EF4-FFF2-40B4-BE49-F238E27FC236}">
                <a16:creationId xmlns:a16="http://schemas.microsoft.com/office/drawing/2014/main" id="{61BB7776-43EA-4BB3-B2A1-FBBAE973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004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feature_key</a:t>
            </a:r>
          </a:p>
        </p:txBody>
      </p:sp>
      <p:sp>
        <p:nvSpPr>
          <p:cNvPr id="33" name="s2-feature-headline">
            <a:extLst xmlns:a="http://schemas.openxmlformats.org/drawingml/2006/main">
              <a:ext uri="{FF2B5EF4-FFF2-40B4-BE49-F238E27FC236}">
                <a16:creationId xmlns:a16="http://schemas.microsoft.com/office/drawing/2014/main" id="{6390813C-C1CC-462A-BD5B-623B0720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前置与目标使用同一 key 时自动覆盖</a:t>
            </a:r>
          </a:p>
        </p:txBody>
      </p:sp>
      <p:sp>
        <p:nvSpPr>
          <p:cNvPr id="34" name="s2-feature-bullets-dot-0">
            <a:extLst xmlns:a="http://schemas.openxmlformats.org/drawingml/2006/main">
              <a:ext uri="{FF2B5EF4-FFF2-40B4-BE49-F238E27FC236}">
                <a16:creationId xmlns:a16="http://schemas.microsoft.com/office/drawing/2014/main" id="{0CFE2843-D209-47AF-8B28-C9D54467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244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2-feature-bullets-0">
            <a:extLst xmlns:a="http://schemas.openxmlformats.org/drawingml/2006/main">
              <a:ext uri="{FF2B5EF4-FFF2-40B4-BE49-F238E27FC236}">
                <a16:creationId xmlns:a16="http://schemas.microsoft.com/office/drawing/2014/main" id="{0A871A11-7284-4189-9FBE-296560C6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9650"/>
            <a:ext cx="440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迁移关系由键匹配推导</a:t>
            </a:r>
          </a:p>
        </p:txBody>
      </p:sp>
      <p:sp>
        <p:nvSpPr>
          <p:cNvPr id="36" name="s2-feature-bullets-dot-1">
            <a:extLst xmlns:a="http://schemas.openxmlformats.org/drawingml/2006/main">
              <a:ext uri="{FF2B5EF4-FFF2-40B4-BE49-F238E27FC236}">
                <a16:creationId xmlns:a16="http://schemas.microsoft.com/office/drawing/2014/main" id="{7D1AAFB5-6CB8-41EB-9EA7-984B902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2-feature-bullets-1">
            <a:extLst xmlns:a="http://schemas.openxmlformats.org/drawingml/2006/main">
              <a:ext uri="{FF2B5EF4-FFF2-40B4-BE49-F238E27FC236}">
                <a16:creationId xmlns:a16="http://schemas.microsoft.com/office/drawing/2014/main" id="{3EE6F471-4E85-465C-A9BA-625C7DD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53025"/>
            <a:ext cx="440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支持二元与多值状态</a:t>
            </a:r>
          </a:p>
        </p:txBody>
      </p:sp>
      <p:sp>
        <p:nvSpPr>
          <p:cNvPr id="38" name="s2-feature-bullets-dot-2">
            <a:extLst xmlns:a="http://schemas.openxmlformats.org/drawingml/2006/main">
              <a:ext uri="{FF2B5EF4-FFF2-40B4-BE49-F238E27FC236}">
                <a16:creationId xmlns:a16="http://schemas.microsoft.com/office/drawing/2014/main" id="{22032E49-2411-4C51-B32C-07664A57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91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2-feature-bullets-2">
            <a:extLst xmlns:a="http://schemas.openxmlformats.org/drawingml/2006/main">
              <a:ext uri="{FF2B5EF4-FFF2-40B4-BE49-F238E27FC236}">
                <a16:creationId xmlns:a16="http://schemas.microsoft.com/office/drawing/2014/main" id="{E936E0BA-B1CB-42ED-AE6C-A941BB9D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86400"/>
            <a:ext cx="440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key 必须一致、稳定</a:t>
            </a:r>
          </a:p>
        </p:txBody>
      </p:sp>
      <p:sp>
        <p:nvSpPr>
          <p:cNvPr id="40" name="s2-conclusion">
            <a:extLst xmlns:a="http://schemas.openxmlformats.org/drawingml/2006/main">
              <a:ext uri="{FF2B5EF4-FFF2-40B4-BE49-F238E27FC236}">
                <a16:creationId xmlns:a16="http://schemas.microsoft.com/office/drawing/2014/main" id="{EA605896-AD2E-4861-93A5-12B82CB7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FE6FA"/>
            </a:solidFill>
            <a:prstDash val="solid"/>
          </a:ln>
        </p:spPr>
      </p:sp>
      <p:sp>
        <p:nvSpPr>
          <p:cNvPr id="41" name="s2-conclusion-text">
            <a:extLst xmlns:a="http://schemas.openxmlformats.org/drawingml/2006/main">
              <a:ext uri="{FF2B5EF4-FFF2-40B4-BE49-F238E27FC236}">
                <a16:creationId xmlns:a16="http://schemas.microsoft.com/office/drawing/2014/main" id="{799E1FCF-CA53-4E58-B0CD-2CBD5165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共同结论：两种策略二选一即可；如果都没有，系统无法可靠区分“状态迁移”和“普通前置条件”。</a:t>
            </a:r>
          </a:p>
        </p:txBody>
      </p:sp>
    </p:spTree>
    <p:extLst>
      <p:ext uri="{BB962C8B-B14F-4D97-AF65-F5344CB8AC3E}">
        <p14:creationId xmlns:p14="http://schemas.microsoft.com/office/powerpoint/2010/main" val="1088764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2026-08-18T08:34:02.8790000Z</dcterms:created>
  <dcterms:modified xsi:type="dcterms:W3CDTF">2026-08-18T08:34:02.8790000Z</dcterms:modified>
</coreProperties>
</file>